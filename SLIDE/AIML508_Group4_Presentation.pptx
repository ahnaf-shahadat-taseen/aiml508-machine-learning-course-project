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144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Malware Detection Using
CNN + CBAM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926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892B0"/>
                </a:solidFill>
              </a:rPr>
              <a:t>Applied to PE Header Features  ·  SOMLAP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429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4AA"/>
                </a:solidFill>
              </a:rPr>
              <a:t>AIML 508  |  Group-4  |  Track 3 — CNN + Attention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4114800"/>
            <a:ext cx="5029200" cy="2194560"/>
          </a:xfrm>
          <a:prstGeom prst="rect">
            <a:avLst/>
          </a:prstGeom>
          <a:solidFill>
            <a:srgbClr val="13182A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80160" y="4251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C63FF"/>
                </a:solidFill>
              </a:rPr>
              <a:t>TEAM MEMBERS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617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Reasad Mahmood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617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2B0"/>
                </a:solidFill>
              </a:rPr>
              <a:t>2026-2-74-012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09320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Ahanaf Shahadat Taseen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509320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2B0"/>
                </a:solidFill>
              </a:rPr>
              <a:t>2026-2-74-033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556869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Md. Rafiqul Islam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556869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2B0"/>
                </a:solidFill>
              </a:rPr>
              <a:t>2026-2-74-025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4251960"/>
            <a:ext cx="1371600" cy="347472"/>
          </a:xfrm>
          <a:prstGeom prst="rect">
            <a:avLst/>
          </a:prstGeom>
          <a:solidFill>
            <a:srgbClr val="101528"/>
          </a:solidFill>
          <a:ln w="9525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42793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C63FF"/>
                </a:solidFill>
              </a:rPr>
              <a:t>51,408 Samples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4251960"/>
            <a:ext cx="1371600" cy="347472"/>
          </a:xfrm>
          <a:prstGeom prst="rect">
            <a:avLst/>
          </a:prstGeom>
          <a:solidFill>
            <a:srgbClr val="101528"/>
          </a:solidFill>
          <a:ln w="9525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92440" y="42793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D4AA"/>
                </a:solidFill>
              </a:rPr>
              <a:t>108 PE Features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0" y="4251960"/>
            <a:ext cx="1371600" cy="347472"/>
          </a:xfrm>
          <a:prstGeom prst="rect">
            <a:avLst/>
          </a:prstGeom>
          <a:solidFill>
            <a:srgbClr val="101528"/>
          </a:solidFill>
          <a:ln w="9525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0" y="42793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D166"/>
                </a:solidFill>
              </a:rPr>
              <a:t>Binary Class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4818018"/>
            <a:ext cx="1371600" cy="347472"/>
          </a:xfrm>
          <a:prstGeom prst="rect">
            <a:avLst/>
          </a:prstGeom>
          <a:solidFill>
            <a:srgbClr val="101528"/>
          </a:solidFill>
          <a:ln w="9525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92390" y="4845450"/>
            <a:ext cx="1371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FF6B6B"/>
                </a:solidFill>
              </a:rPr>
              <a:t>CNN + CB</a:t>
            </a:r>
            <a:r>
              <a:rPr lang="en-US" sz="900" b="1" i="0" dirty="0">
                <a:solidFill>
                  <a:srgbClr val="FF6B6B"/>
                </a:solidFill>
              </a:rPr>
              <a:t>/</a:t>
            </a:r>
            <a:r>
              <a:rPr sz="900" b="1" i="0" dirty="0">
                <a:solidFill>
                  <a:srgbClr val="FF6B6B"/>
                </a:solidFill>
              </a:rPr>
              <a:t>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AA"/>
                </a:solidFill>
              </a:rPr>
              <a:t>SLIDE 2  · 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The SOMLAP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64008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783080" cy="868680"/>
          </a:xfrm>
          <a:prstGeom prst="rect">
            <a:avLst/>
          </a:prstGeom>
          <a:solidFill>
            <a:srgbClr val="101528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51,408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2B0"/>
                </a:solidFill>
              </a:rPr>
              <a:t>Total Samples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359152" y="1280160"/>
            <a:ext cx="1783080" cy="868680"/>
          </a:xfrm>
          <a:prstGeom prst="rect">
            <a:avLst/>
          </a:prstGeom>
          <a:solidFill>
            <a:srgbClr val="101528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59152" y="1353312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59152" y="1737360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2B0"/>
                </a:solidFill>
              </a:rPr>
              <a:t>PE Features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61104" y="1280160"/>
            <a:ext cx="1783080" cy="868680"/>
          </a:xfrm>
          <a:prstGeom prst="rect">
            <a:avLst/>
          </a:prstGeom>
          <a:solidFill>
            <a:srgbClr val="101528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61104" y="1353312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1104" y="1737360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2B0"/>
                </a:solidFill>
              </a:rPr>
              <a:t>Missing Values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3056" y="1280160"/>
            <a:ext cx="1783080" cy="868680"/>
          </a:xfrm>
          <a:prstGeom prst="rect">
            <a:avLst/>
          </a:prstGeom>
          <a:solidFill>
            <a:srgbClr val="101528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63056" y="1353312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27.95%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3056" y="1737360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2B0"/>
                </a:solidFill>
              </a:rPr>
              <a:t>Duplicate Rows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5008" y="1280160"/>
            <a:ext cx="1783080" cy="868680"/>
          </a:xfrm>
          <a:prstGeom prst="rect">
            <a:avLst/>
          </a:prstGeom>
          <a:solidFill>
            <a:srgbClr val="101528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65008" y="1353312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1.60:1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5008" y="1737360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2B0"/>
                </a:solidFill>
              </a:rPr>
              <a:t>Imbalance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66960" y="1280160"/>
            <a:ext cx="1783080" cy="868680"/>
          </a:xfrm>
          <a:prstGeom prst="rect">
            <a:avLst/>
          </a:prstGeom>
          <a:solidFill>
            <a:srgbClr val="101528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966960" y="1353312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1737360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2B0"/>
                </a:solidFill>
              </a:rPr>
              <a:t>Near-Const Feats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304288"/>
            <a:ext cx="4114800" cy="2103120"/>
          </a:xfrm>
          <a:prstGeom prst="rect">
            <a:avLst/>
          </a:prstGeom>
          <a:solidFill>
            <a:srgbClr val="13182A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24231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C63FF"/>
                </a:solidFill>
              </a:rPr>
              <a:t>CLASS DISTRIBUTION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2743200"/>
          <a:ext cx="4114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Class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Count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Percentage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0 — Benign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8892B0"/>
                          </a:solidFill>
                        </a:rPr>
                        <a:t>31,600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8892B0"/>
                          </a:solidFill>
                        </a:rPr>
                        <a:t>61.47%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1 — Malware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8892B0"/>
                          </a:solidFill>
                        </a:rPr>
                        <a:t>19,808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8892B0"/>
                          </a:solidFill>
                        </a:rPr>
                        <a:t>38.53%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Ratio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8892B0"/>
                          </a:solidFill>
                        </a:rPr>
                        <a:t>1.60 : 1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8892B0"/>
                          </a:solidFill>
                        </a:rPr>
                        <a:t>Mild imbalance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4754880" y="2304288"/>
            <a:ext cx="4114800" cy="2103120"/>
          </a:xfrm>
          <a:prstGeom prst="rect">
            <a:avLst/>
          </a:prstGeom>
          <a:solidFill>
            <a:srgbClr val="13182A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37760" y="242316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6B6B"/>
                </a:solidFill>
              </a:rPr>
              <a:t>DUPLICATE RATE BY CLASS  ⚠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4754880" y="2743200"/>
          <a:ext cx="41148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Class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Samples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Dup. Rate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0 — Benign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8892B0"/>
                          </a:solidFill>
                        </a:rPr>
                        <a:t>31,600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8892B0"/>
                          </a:solidFill>
                        </a:rPr>
                        <a:t>74.83%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1 — Malware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8892B0"/>
                          </a:solidFill>
                        </a:rPr>
                        <a:t>19,808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8892B0"/>
                          </a:solidFill>
                        </a:rPr>
                        <a:t>10.03%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4937760" y="400507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6B6B"/>
                </a:solidFill>
              </a:rPr>
              <a:t>→ Leakage-aware splitting is essential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52560" y="2304288"/>
            <a:ext cx="2743200" cy="2103120"/>
          </a:xfrm>
          <a:prstGeom prst="rect">
            <a:avLst/>
          </a:prstGeom>
          <a:solidFill>
            <a:srgbClr val="13182A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89720" y="242316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C63FF"/>
                </a:solidFill>
              </a:rPr>
              <a:t>KEY EDA FINDINGS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74320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00">
                <a:solidFill>
                  <a:srgbClr val="8892B0"/>
                </a:solidFill>
              </a:rPr>
              <a:t>▸  No missing values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8892B0"/>
                </a:solidFill>
              </a:rPr>
              <a:t>▸  36 near-constant features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8892B0"/>
                </a:solidFill>
              </a:rPr>
              <a:t>▸  6 UINT32_MAX features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8892B0"/>
                </a:solidFill>
              </a:rPr>
              <a:t>▸  PCA: 18% in 2 components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8892B0"/>
                </a:solidFill>
              </a:rPr>
              <a:t>▸  Skewness up to 226.7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8892B0"/>
                </a:solidFill>
              </a:rPr>
              <a:t>▸  26 corr. pairs |r|≥0.90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526280"/>
            <a:ext cx="11338560" cy="502920"/>
          </a:xfrm>
          <a:prstGeom prst="rect">
            <a:avLst/>
          </a:prstGeom>
          <a:solidFill>
            <a:srgbClr val="101528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92B0"/>
                </a:solidFill>
              </a:rPr>
              <a:t>Class Weights Used for Training:   Benign (0) = 0.8148   ·   Malware (1) = 1.2942   ·   Primary Metric: Macro-F1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AA"/>
                </a:solidFill>
              </a:rPr>
              <a:t>SLIDE 3  ·  TASK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Project Task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64008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777240" cy="40233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62456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Task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298448"/>
            <a:ext cx="6858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Related Work &amp; Research Gap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517904"/>
            <a:ext cx="10332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B0"/>
                </a:solidFill>
              </a:rPr>
              <a:t>10 papers reviewed  ·  5 research gaps identified  ·  SOMLAP has no prior attention result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11338560" cy="6350"/>
          </a:xfrm>
          <a:prstGeom prst="rect">
            <a:avLst/>
          </a:prstGeom>
          <a:solidFill>
            <a:srgbClr val="25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792224"/>
            <a:ext cx="777240" cy="40233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85623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Task 2A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792224"/>
            <a:ext cx="6858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Exploratory Data Analysis (EDA)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011680"/>
            <a:ext cx="10332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B0"/>
                </a:solidFill>
              </a:rPr>
              <a:t>78-cell analysis  ·  Duplicate detection  ·  PCA  ·  Correlation  ·  Leakage risk identified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231136"/>
            <a:ext cx="11338560" cy="6350"/>
          </a:xfrm>
          <a:prstGeom prst="rect">
            <a:avLst/>
          </a:prstGeom>
          <a:solidFill>
            <a:srgbClr val="25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2286000"/>
            <a:ext cx="777240" cy="40233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35000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Task 2B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286000"/>
            <a:ext cx="6858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Baseline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505456"/>
            <a:ext cx="10332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B0"/>
                </a:solidFill>
              </a:rPr>
              <a:t>VGG16  ·  ResNet50  ·  EfficientNetB0  ·  Plain CNN  ·  Leakage-aware 70/15/15 split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724912"/>
            <a:ext cx="11338560" cy="6350"/>
          </a:xfrm>
          <a:prstGeom prst="rect">
            <a:avLst/>
          </a:prstGeom>
          <a:solidFill>
            <a:srgbClr val="25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2779776"/>
            <a:ext cx="777240" cy="40233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284378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Task 2C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2779776"/>
            <a:ext cx="6858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Proposed Model — CNN + CBAM Attention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2999232"/>
            <a:ext cx="10332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B0"/>
                </a:solidFill>
              </a:rPr>
              <a:t>Same backbone as Plain CNN  ·  Only CBAM added (+2,982 params)  ·  Same test set evaluation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218688"/>
            <a:ext cx="11338560" cy="6350"/>
          </a:xfrm>
          <a:prstGeom prst="rect">
            <a:avLst/>
          </a:prstGeom>
          <a:solidFill>
            <a:srgbClr val="25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3273552"/>
            <a:ext cx="777240" cy="40233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333756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Task 3A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3273552"/>
            <a:ext cx="6858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Ablation Study + Significance Testing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493008"/>
            <a:ext cx="10332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B0"/>
                </a:solidFill>
              </a:rPr>
              <a:t>6-config 2×2 factorial  ·  McNemar (p=1.11×10⁻¹⁴)  ·  5-fold CV Wilcoxon (p=0.44)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712464"/>
            <a:ext cx="11338560" cy="6350"/>
          </a:xfrm>
          <a:prstGeom prst="rect">
            <a:avLst/>
          </a:prstGeom>
          <a:solidFill>
            <a:srgbClr val="25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7200" y="3767328"/>
            <a:ext cx="777240" cy="40233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3831336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Task 3B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3767328"/>
            <a:ext cx="6858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Explainability — Grad-CAM + LIME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3986784"/>
            <a:ext cx="10332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B0"/>
                </a:solidFill>
              </a:rPr>
              <a:t>Grad-CAM on last Conv2D  ·  LIME on 108 fixed grid segments  ·  Top feature: Maxpar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206240"/>
            <a:ext cx="11338560" cy="6350"/>
          </a:xfrm>
          <a:prstGeom prst="rect">
            <a:avLst/>
          </a:prstGeom>
          <a:solidFill>
            <a:srgbClr val="25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57200" y="6108192"/>
            <a:ext cx="2560320" cy="640080"/>
          </a:xfrm>
          <a:prstGeom prst="rect">
            <a:avLst/>
          </a:prstGeom>
          <a:solidFill>
            <a:srgbClr val="101528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618134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5653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2B0"/>
                </a:solidFill>
              </a:rPr>
              <a:t>Papers Reviewed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0" y="6108192"/>
            <a:ext cx="2560320" cy="640080"/>
          </a:xfrm>
          <a:prstGeom prst="rect">
            <a:avLst/>
          </a:prstGeom>
          <a:solidFill>
            <a:srgbClr val="101528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00400" y="618134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65653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2B0"/>
                </a:solidFill>
              </a:rPr>
              <a:t>Models Trained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0" y="6108192"/>
            <a:ext cx="2560320" cy="640080"/>
          </a:xfrm>
          <a:prstGeom prst="rect">
            <a:avLst/>
          </a:prstGeom>
          <a:solidFill>
            <a:srgbClr val="101528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943600" y="618134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65653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2B0"/>
                </a:solidFill>
              </a:rPr>
              <a:t>XAI Methods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686800" y="6108192"/>
            <a:ext cx="2560320" cy="640080"/>
          </a:xfrm>
          <a:prstGeom prst="rect">
            <a:avLst/>
          </a:prstGeom>
          <a:solidFill>
            <a:srgbClr val="101528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686800" y="618134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65653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2B0"/>
                </a:solidFill>
              </a:rPr>
              <a:t>Ablation Configs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AA"/>
                </a:solidFill>
              </a:rPr>
              <a:t>SLIDE 4  ·  RELATED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Literature Survey &amp; Research Gaps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64008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7132320" cy="3931920"/>
          </a:xfrm>
          <a:prstGeom prst="rect">
            <a:avLst/>
          </a:prstGeom>
          <a:solidFill>
            <a:srgbClr val="13182A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D166"/>
                </a:solidFill>
              </a:rPr>
              <a:t>10 PAPERS SURVEYED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91640"/>
          <a:ext cx="713232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Paper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Year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Dataset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Best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Wang et al. (MSAAM)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2022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Malimg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99.80%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Kattamuri et al.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2023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SOMLAP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99.37%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Ravi &amp; Alazab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2023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Malimg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99.33%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Ahmad (MAD-ANET)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Memory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Fan (GCSA-ResNet)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Malimg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99.1%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Hou (MHSA)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2026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MaleVis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87.3%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Alwateer et al. ★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2026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SOMLAP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dirty="0">
                          <a:solidFill>
                            <a:srgbClr val="8892B0"/>
                          </a:solidFill>
                        </a:rPr>
                        <a:t>99.89%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772400" y="1298448"/>
            <a:ext cx="4023360" cy="5120640"/>
          </a:xfrm>
          <a:prstGeom prst="rect">
            <a:avLst/>
          </a:prstGeom>
          <a:solidFill>
            <a:srgbClr val="13182A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79" y="14173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C63FF"/>
                </a:solidFill>
              </a:rPr>
              <a:t>5 RESEARCH GAPS WE ADDRESS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1783080"/>
            <a:ext cx="384048" cy="34747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0" y="183794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7" y="181965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B0"/>
                </a:solidFill>
              </a:rPr>
              <a:t>Attention never on PE-header features — only on malware images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2286000"/>
            <a:ext cx="384048" cy="34747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63840" y="234086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232257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B0"/>
                </a:solidFill>
              </a:rPr>
              <a:t>SOMLAP has no attention-based result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2788920"/>
            <a:ext cx="384048" cy="34747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63840" y="284378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282549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B0"/>
                </a:solidFill>
              </a:rPr>
              <a:t>No per-prediction feature attribution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3291840"/>
            <a:ext cx="384048" cy="34747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63840" y="334670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332841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B0"/>
                </a:solidFill>
              </a:rPr>
              <a:t>Image benchmarks saturated (&gt;99%), harder data collapses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0" y="3794760"/>
            <a:ext cx="384048" cy="34747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63840" y="384962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383133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B0"/>
                </a:solidFill>
              </a:rPr>
              <a:t>Tabular static PE + attention almost entirely unexplored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321808"/>
            <a:ext cx="7132320" cy="502920"/>
          </a:xfrm>
          <a:prstGeom prst="rect">
            <a:avLst/>
          </a:prstGeom>
          <a:solidFill>
            <a:srgbClr val="0E1A30"/>
          </a:solidFill>
          <a:ln w="9525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5422392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Our Contribution: First study applying CBAM attention to SOMLAP PE-header features with per-sample explainability (Grad-CAM + LIME) — filling Gaps 1, 2 &amp; 3.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AA"/>
                </a:solidFill>
              </a:rPr>
              <a:t>SLIDE 5  ·  ACCURACY, F1 &amp; 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Evaluation Metrics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64008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5029200" cy="3657600"/>
          </a:xfrm>
          <a:prstGeom prst="rect">
            <a:avLst/>
          </a:prstGeom>
          <a:solidFill>
            <a:srgbClr val="13182A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C63FF"/>
                </a:solidFill>
              </a:rPr>
              <a:t>WHY MACRO-F1 IS OUR PRIMARY METRIC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91640"/>
          <a:ext cx="50292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Formula / Meaning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(TP+TN) / N  — overall correctness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TP/(TP+FP)  — avoid false alarms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TP/(TP+FN)  — avoid missing malware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F1 (binary)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2×P×R/(P+R)  — harmonic mean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Macro F1  ★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Mean of per-class F1  — primary metric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Area under ROC — all thresholds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PR-AUC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Precision-recall area — imbalanced data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0" y="1298448"/>
            <a:ext cx="6126480" cy="2743200"/>
          </a:xfrm>
          <a:prstGeom prst="rect">
            <a:avLst/>
          </a:prstGeom>
          <a:solidFill>
            <a:srgbClr val="13182A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52160" y="141732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C63FF"/>
                </a:solidFill>
              </a:rPr>
              <a:t>KEY RESULTS BY METRIC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0" y="1691640"/>
          <a:ext cx="6126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1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1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1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1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35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Macro F1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Plain CNN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0.9508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0.9482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0.9931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CNN+CBAM (T2)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0.9492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0.9473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0.9954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Task 3 Final ★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0.9587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0.9558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0.9938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ResNet50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0.9247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0.9223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0.9875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VGG16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0.9009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0.8991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0.9950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351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EfficientNetB0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0.8492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0.8253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0.9670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669280" y="4160520"/>
            <a:ext cx="6126480" cy="1554480"/>
          </a:xfrm>
          <a:prstGeom prst="rect">
            <a:avLst/>
          </a:prstGeom>
          <a:solidFill>
            <a:srgbClr val="13182A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52160" y="4279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6B6B"/>
                </a:solidFill>
              </a:rPr>
              <a:t>STATISTICAL SIGNIFICANCE TESTS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669280" y="4572000"/>
          <a:ext cx="612648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Test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p-value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Verdict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McNemar (held-out)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1.11×10⁻¹⁴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Significantly different errors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Wilcoxon (5-fold CV)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0.4375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No consistent F1 gain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074920"/>
            <a:ext cx="5029200" cy="640080"/>
          </a:xfrm>
          <a:prstGeom prst="rect">
            <a:avLst/>
          </a:prstGeom>
          <a:solidFill>
            <a:srgbClr val="0E1A30"/>
          </a:solidFill>
          <a:ln w="9525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516636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CBAM changes WHERE the model errs (McNemar: significant)
but not HOW OFTEN it errs (Wilcoxon: p=0.44, not significant).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AA"/>
                </a:solidFill>
              </a:rPr>
              <a:t>SLIDE 6  · 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End-to-End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64008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7315200" cy="475488"/>
          </a:xfrm>
          <a:prstGeom prst="rect">
            <a:avLst/>
          </a:prstGeom>
          <a:solidFill>
            <a:srgbClr val="101528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66928" y="1389888"/>
            <a:ext cx="292608" cy="292608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37160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335024"/>
            <a:ext cx="6720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Load SOMLAP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536192"/>
            <a:ext cx="6720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B0"/>
                </a:solidFill>
              </a:rPr>
              <a:t>51,408 × 109 columns  ·  all numerical PE-header fields  ·  no missing values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7315200" cy="475488"/>
          </a:xfrm>
          <a:prstGeom prst="rect">
            <a:avLst/>
          </a:prstGeom>
          <a:solidFill>
            <a:srgbClr val="101528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66928" y="1920240"/>
            <a:ext cx="292608" cy="292608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190195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1865376"/>
            <a:ext cx="6720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EDA &amp; Quality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066544"/>
            <a:ext cx="6720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B0"/>
                </a:solidFill>
              </a:rPr>
              <a:t>Duplicate detection  ·  feature analysis  ·  correlation  ·  leakage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359152"/>
            <a:ext cx="7315200" cy="475488"/>
          </a:xfrm>
          <a:prstGeom prst="rect">
            <a:avLst/>
          </a:prstGeom>
          <a:solidFill>
            <a:srgbClr val="101528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66928" y="2450592"/>
            <a:ext cx="292608" cy="292608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243230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395728"/>
            <a:ext cx="6720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Leakage-Aware Split 70/15/15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596896"/>
            <a:ext cx="6720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B0"/>
                </a:solidFill>
              </a:rPr>
              <a:t>Duplicate groups assigned together  ·  Seed=42  ·  zero cross-split overlap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89504"/>
            <a:ext cx="7315200" cy="475488"/>
          </a:xfrm>
          <a:prstGeom prst="rect">
            <a:avLst/>
          </a:prstGeom>
          <a:solidFill>
            <a:srgbClr val="101528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66928" y="2980944"/>
            <a:ext cx="292608" cy="292608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296265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2926080"/>
            <a:ext cx="6720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Preprocessing (train-only fit)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127248"/>
            <a:ext cx="6720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B0"/>
                </a:solidFill>
              </a:rPr>
              <a:t>StandardScaler  →  pixel scale [0,255]  →  safe clipping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419856"/>
            <a:ext cx="7315200" cy="475488"/>
          </a:xfrm>
          <a:prstGeom prst="rect">
            <a:avLst/>
          </a:prstGeom>
          <a:solidFill>
            <a:srgbClr val="101528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66928" y="3511296"/>
            <a:ext cx="292608" cy="292608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349300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3456432"/>
            <a:ext cx="6720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Feature-to-Image Conversion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3657600"/>
            <a:ext cx="6720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B0"/>
                </a:solidFill>
              </a:rPr>
              <a:t>108 features  →  12×9 grid  →  resize 96×96  →  3-channel RGB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950208"/>
            <a:ext cx="7315200" cy="475488"/>
          </a:xfrm>
          <a:prstGeom prst="rect">
            <a:avLst/>
          </a:prstGeom>
          <a:solidFill>
            <a:srgbClr val="101528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66928" y="4041648"/>
            <a:ext cx="292608" cy="292608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" y="402336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3986784"/>
            <a:ext cx="6720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tf.data Pipeline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4187952"/>
            <a:ext cx="6720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B0"/>
                </a:solidFill>
              </a:rPr>
              <a:t>Batch=32  ·  Gaussian noise σ=1.5 (train only)  ·  No flips/rotations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480560"/>
            <a:ext cx="7315200" cy="475488"/>
          </a:xfrm>
          <a:prstGeom prst="rect">
            <a:avLst/>
          </a:prstGeom>
          <a:solidFill>
            <a:srgbClr val="101528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66928" y="4572000"/>
            <a:ext cx="292608" cy="292608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66928" y="455371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4517136"/>
            <a:ext cx="6720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Training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4718304"/>
            <a:ext cx="6720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B0"/>
                </a:solidFill>
              </a:rPr>
              <a:t>2× Tesla T4  ·  MirroredStrategy  ·  Max 60 epochs  ·  EarlyStopping(10)  ·  Adam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010912"/>
            <a:ext cx="7315200" cy="475488"/>
          </a:xfrm>
          <a:prstGeom prst="rect">
            <a:avLst/>
          </a:prstGeom>
          <a:solidFill>
            <a:srgbClr val="101528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566928" y="5102352"/>
            <a:ext cx="292608" cy="292608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66928" y="508406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" y="5047488"/>
            <a:ext cx="6720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Evaluation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" y="5248656"/>
            <a:ext cx="6720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B0"/>
                </a:solidFill>
              </a:rPr>
              <a:t>Test set used ONCE  ·  McNemar  ·  5-fold CV  ·  Wilcoxon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55279" y="1298448"/>
            <a:ext cx="3931920" cy="2286000"/>
          </a:xfrm>
          <a:prstGeom prst="rect">
            <a:avLst/>
          </a:prstGeom>
          <a:solidFill>
            <a:srgbClr val="13182A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138160" y="141732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C63FF"/>
                </a:solidFill>
              </a:rPr>
              <a:t>DATA SPLIT</a:t>
            </a:r>
          </a:p>
        </p:txBody>
      </p:sp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7955279" y="1691640"/>
          <a:ext cx="393192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Split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Samples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Groups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Train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36,027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25,928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Validation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7,651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5,556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Test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7,730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5,557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9" name="Rectangle 48"/>
          <p:cNvSpPr/>
          <p:nvPr/>
        </p:nvSpPr>
        <p:spPr>
          <a:xfrm>
            <a:off x="7955279" y="3703320"/>
            <a:ext cx="3931920" cy="2194560"/>
          </a:xfrm>
          <a:prstGeom prst="rect">
            <a:avLst/>
          </a:prstGeom>
          <a:solidFill>
            <a:srgbClr val="13182A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138160" y="3822191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C63FF"/>
                </a:solidFill>
              </a:rPr>
              <a:t>TRAINING CONFIG</a:t>
            </a:r>
          </a:p>
        </p:txBody>
      </p:sp>
      <p:graphicFrame>
        <p:nvGraphicFramePr>
          <p:cNvPr id="51" name="Table 50"/>
          <p:cNvGraphicFramePr>
            <a:graphicFrameLocks noGrp="1"/>
          </p:cNvGraphicFramePr>
          <p:nvPr/>
        </p:nvGraphicFramePr>
        <p:xfrm>
          <a:off x="7955279" y="4096512"/>
          <a:ext cx="393192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166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Setting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66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Optimizer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Adam (lr=1e-3)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66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Max Epochs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66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Early Stop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patience=10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66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Reduce LR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patience=4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66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Batch Size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32 (global)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6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GPUs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2× Tesla T4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AA"/>
                </a:solidFill>
              </a:rPr>
              <a:t>SLIDE 7  ·  MODEL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CNN + CBAM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64008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5943600" cy="452120"/>
          </a:xfrm>
          <a:prstGeom prst="rect">
            <a:avLst/>
          </a:prstGeom>
          <a:solidFill>
            <a:srgbClr val="13182A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0817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B0"/>
                </a:solidFill>
              </a:rPr>
              <a:t>Input  96×96×3  →  Rescale [0,1]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01368"/>
            <a:ext cx="5943600" cy="452120"/>
          </a:xfrm>
          <a:prstGeom prst="rect">
            <a:avLst/>
          </a:prstGeom>
          <a:solidFill>
            <a:srgbClr val="101830"/>
          </a:solidFill>
          <a:ln w="9525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91109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C63FF"/>
                </a:solidFill>
              </a:rPr>
              <a:t>Block 1:  Conv2D(32) + BN + ReLU  →  [CBAM ★]  →  MaxPool  →  Dropout(0.30)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04288"/>
            <a:ext cx="5943600" cy="452120"/>
          </a:xfrm>
          <a:prstGeom prst="rect">
            <a:avLst/>
          </a:prstGeom>
          <a:solidFill>
            <a:srgbClr val="101830"/>
          </a:solidFill>
          <a:ln w="9525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41401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C63FF"/>
                </a:solidFill>
              </a:rPr>
              <a:t>Block 2:  Conv2D(64) + BN + ReLU  →  [CBAM ★]  →  MaxPool  →  Dropout(0.30)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07208"/>
            <a:ext cx="5943600" cy="452120"/>
          </a:xfrm>
          <a:prstGeom prst="rect">
            <a:avLst/>
          </a:prstGeom>
          <a:solidFill>
            <a:srgbClr val="101830"/>
          </a:solidFill>
          <a:ln w="9525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91693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C63FF"/>
                </a:solidFill>
              </a:rPr>
              <a:t>Block 3:  Conv2D(128) + BN + ReLU  →  [CBAM ★]  →  MaxPool  →  Dropout(0.30)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10128"/>
            <a:ext cx="5943600" cy="452120"/>
          </a:xfrm>
          <a:prstGeom prst="rect">
            <a:avLst/>
          </a:prstGeom>
          <a:solidFill>
            <a:srgbClr val="13182A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341985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B0"/>
                </a:solidFill>
              </a:rPr>
              <a:t>Block 4:  Conv2D(256) + BN + ReLU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13048"/>
            <a:ext cx="5943600" cy="452120"/>
          </a:xfrm>
          <a:prstGeom prst="rect">
            <a:avLst/>
          </a:prstGeom>
          <a:solidFill>
            <a:srgbClr val="13182A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92277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B0"/>
                </a:solidFill>
              </a:rPr>
              <a:t>Global Average Pooling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315968"/>
            <a:ext cx="5943600" cy="452120"/>
          </a:xfrm>
          <a:prstGeom prst="rect">
            <a:avLst/>
          </a:prstGeom>
          <a:solidFill>
            <a:srgbClr val="13182A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42569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B0"/>
                </a:solidFill>
              </a:rPr>
              <a:t>Dense(256) + BN + ReLU + Dropout(0.50)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818888"/>
            <a:ext cx="5943600" cy="452120"/>
          </a:xfrm>
          <a:prstGeom prst="rect">
            <a:avLst/>
          </a:prstGeom>
          <a:solidFill>
            <a:srgbClr val="13182A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92861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B0"/>
                </a:solidFill>
              </a:rPr>
              <a:t>Dense(128) + BN + ReLU + Dropout(0.50)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321808"/>
            <a:ext cx="5943600" cy="452120"/>
          </a:xfrm>
          <a:prstGeom prst="rect">
            <a:avLst/>
          </a:prstGeom>
          <a:solidFill>
            <a:srgbClr val="101830"/>
          </a:solidFill>
          <a:ln w="9525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543153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AA"/>
                </a:solidFill>
              </a:rPr>
              <a:t>Dense(1)  →  Sigmoid  →  Malware Probability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1298448"/>
            <a:ext cx="5303520" cy="2560320"/>
          </a:xfrm>
          <a:prstGeom prst="rect">
            <a:avLst/>
          </a:prstGeom>
          <a:solidFill>
            <a:srgbClr val="13182A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66560" y="141732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C63FF"/>
                </a:solidFill>
              </a:rPr>
              <a:t>CBAM — CHANNEL ATTENTION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1719072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B0"/>
                </a:solidFill>
              </a:rPr>
              <a:t>Feature map F (H×W×C)
→ GlobalAvgPool(F) + GlobalMaxPool(F)
→ Shared MLP  (reduction ratio = 16)
→ Sigmoid  →  scale each channel
→ F' = F × channel_weight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3977639"/>
            <a:ext cx="5303520" cy="1920240"/>
          </a:xfrm>
          <a:prstGeom prst="rect">
            <a:avLst/>
          </a:prstGeom>
          <a:solidFill>
            <a:srgbClr val="13182A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66560" y="409651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C63FF"/>
                </a:solidFill>
              </a:rPr>
              <a:t>CBAM — SPATIAL ATTENTION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438912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B0"/>
                </a:solidFill>
              </a:rPr>
              <a:t>Applied to F'
→ ChannelAvg(F') + ChannelMax(F')
→ Conv2D(1, 7×7)  →  Sigmoid
→ F'' = F' × spatial_weight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5989320"/>
            <a:ext cx="5303520" cy="731520"/>
          </a:xfrm>
          <a:prstGeom prst="rect">
            <a:avLst/>
          </a:prstGeom>
          <a:solidFill>
            <a:srgbClr val="0E1A30"/>
          </a:solidFill>
          <a:ln w="9525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66560" y="6126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CNN+CBAM: 492,807 params  ·  5.78 MB  |  vs Plain CNN: 489,825 params  ·  5.70 MB  |  CBAM adds only +2,982 params (+0.6%)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AA"/>
                </a:solidFill>
              </a:rPr>
              <a:t>SLIDE 8  ·  HOW THE GRAPH (IMAGE) IS CONSTRUCTED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From PE Header Features → CNN Input Image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64008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7132320" cy="493776"/>
          </a:xfrm>
          <a:prstGeom prst="rect">
            <a:avLst/>
          </a:prstGeom>
          <a:solidFill>
            <a:srgbClr val="101528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66928" y="1389888"/>
            <a:ext cx="292608" cy="292608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37160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335024"/>
            <a:ext cx="6537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Raw PE Header Features (108 values)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536192"/>
            <a:ext cx="6537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B0"/>
                </a:solidFill>
              </a:rPr>
              <a:t>e.g. blp=144, Fp=3, Rn=0 … all numerical fields from Windows executable header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7132320" cy="493776"/>
          </a:xfrm>
          <a:prstGeom prst="rect">
            <a:avLst/>
          </a:prstGeom>
          <a:solidFill>
            <a:srgbClr val="101528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66928" y="1920240"/>
            <a:ext cx="292608" cy="292608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190195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1865376"/>
            <a:ext cx="6537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StandardScaler  (fit on TRAIN only)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066544"/>
            <a:ext cx="6537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B0"/>
                </a:solidFill>
              </a:rPr>
              <a:t>Each feature → (value − train_mean) / train_std  ·  Result: mean≈0, std≈1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359152"/>
            <a:ext cx="7132320" cy="493776"/>
          </a:xfrm>
          <a:prstGeom prst="rect">
            <a:avLst/>
          </a:prstGeom>
          <a:solidFill>
            <a:srgbClr val="101528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66928" y="2450592"/>
            <a:ext cx="292608" cy="292608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243230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395728"/>
            <a:ext cx="6537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Pixel Scaling → [0, 255]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596896"/>
            <a:ext cx="6537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B0"/>
                </a:solidFill>
              </a:rPr>
              <a:t>Scale to byte range  ·  Safe clipping  ·  All stats from training data only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89504"/>
            <a:ext cx="7132320" cy="493776"/>
          </a:xfrm>
          <a:prstGeom prst="rect">
            <a:avLst/>
          </a:prstGeom>
          <a:solidFill>
            <a:srgbClr val="101528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66928" y="2980944"/>
            <a:ext cx="292608" cy="292608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296265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2926080"/>
            <a:ext cx="6537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Reshape: 108 features → 12×9 Grid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127248"/>
            <a:ext cx="6537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B0"/>
                </a:solidFill>
              </a:rPr>
              <a:t>108 = 12×9 exact fit  ·  Row-major order  ·  Each cell = one PE feature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419856"/>
            <a:ext cx="7132320" cy="493776"/>
          </a:xfrm>
          <a:prstGeom prst="rect">
            <a:avLst/>
          </a:prstGeom>
          <a:solidFill>
            <a:srgbClr val="101528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66928" y="3511296"/>
            <a:ext cx="292608" cy="292608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349300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3456432"/>
            <a:ext cx="6537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Resize: 12×9 → 96×96  (bilinear interpolation)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3657600"/>
            <a:ext cx="6537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B0"/>
                </a:solidFill>
              </a:rPr>
              <a:t>8× upscale  ·  Grayscale copied to 3 channels (RGB) for CNN compatibility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950208"/>
            <a:ext cx="7132320" cy="493776"/>
          </a:xfrm>
          <a:prstGeom prst="rect">
            <a:avLst/>
          </a:prstGeom>
          <a:solidFill>
            <a:srgbClr val="101528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66928" y="4041648"/>
            <a:ext cx="292608" cy="292608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" y="402336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3986784"/>
            <a:ext cx="6537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Augmentation  (training only)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4187952"/>
            <a:ext cx="6537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B0"/>
                </a:solidFill>
              </a:rPr>
              <a:t>Gaussian noise σ=1.5  ·  ✗ No flips/rotations → would corrupt feature positions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480560"/>
            <a:ext cx="7132320" cy="493776"/>
          </a:xfrm>
          <a:prstGeom prst="rect">
            <a:avLst/>
          </a:prstGeom>
          <a:solidFill>
            <a:srgbClr val="101528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66928" y="4572000"/>
            <a:ext cx="292608" cy="292608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66928" y="455371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4517136"/>
            <a:ext cx="6537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Feed to CNN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4718304"/>
            <a:ext cx="6537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B0"/>
                </a:solidFill>
              </a:rPr>
              <a:t>Tensor: (batch, 96, 96, 3)  ·  Rescale layer: pixels/255 → [0, 1]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55279" y="1298448"/>
            <a:ext cx="3931920" cy="3931920"/>
          </a:xfrm>
          <a:prstGeom prst="rect">
            <a:avLst/>
          </a:prstGeom>
          <a:solidFill>
            <a:srgbClr val="13182A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38160" y="361401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D4AA"/>
                </a:solidFill>
              </a:rPr>
              <a:t>WHY THESE CHOICES?</a:t>
            </a:r>
          </a:p>
        </p:txBody>
      </p:sp>
      <p:graphicFrame>
        <p:nvGraphicFramePr>
          <p:cNvPr id="43" name="Table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3087033"/>
              </p:ext>
            </p:extLst>
          </p:nvPr>
        </p:nvGraphicFramePr>
        <p:xfrm>
          <a:off x="7955279" y="613953"/>
          <a:ext cx="393192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Decision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FFFFFF"/>
                          </a:solidFill>
                        </a:rPr>
                        <a:t>Reason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12×9 grid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108=12×9 exact fit — no info lost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96×96 resize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CNN kernel compatibility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3-channel RGB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Standard CNN input format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Row-major order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Original column order preserved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Gaussian noise only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No flips — would corrupt positions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33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Train-only fit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dirty="0">
                          <a:solidFill>
                            <a:srgbClr val="8892B0"/>
                          </a:solidFill>
                        </a:rPr>
                        <a:t>Prevents data leakage to validation/test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4" name="Rectangle 43"/>
          <p:cNvSpPr/>
          <p:nvPr/>
        </p:nvSpPr>
        <p:spPr>
          <a:xfrm>
            <a:off x="7955279" y="5215124"/>
            <a:ext cx="3931920" cy="1517831"/>
          </a:xfrm>
          <a:prstGeom prst="rect">
            <a:avLst/>
          </a:prstGeom>
          <a:solidFill>
            <a:srgbClr val="13182A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5" name="TextBox 44"/>
          <p:cNvSpPr txBox="1"/>
          <p:nvPr/>
        </p:nvSpPr>
        <p:spPr>
          <a:xfrm>
            <a:off x="8606246" y="402030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 dirty="0">
                <a:solidFill>
                  <a:srgbClr val="00D4AA"/>
                </a:solidFill>
              </a:rPr>
              <a:t>12×9 FEATURE GRID  (pixel brightness ∝ feature value)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60953" y="4479689"/>
            <a:ext cx="334772" cy="234188"/>
          </a:xfrm>
          <a:prstGeom prst="rect">
            <a:avLst/>
          </a:prstGeom>
          <a:solidFill>
            <a:srgbClr val="393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608425" y="4479689"/>
            <a:ext cx="334772" cy="234188"/>
          </a:xfrm>
          <a:prstGeom prst="rect">
            <a:avLst/>
          </a:prstGeom>
          <a:solidFill>
            <a:srgbClr val="36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955897" y="4479689"/>
            <a:ext cx="334772" cy="234188"/>
          </a:xfrm>
          <a:prstGeom prst="rect">
            <a:avLst/>
          </a:prstGeom>
          <a:solidFill>
            <a:srgbClr val="241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9303369" y="4479689"/>
            <a:ext cx="334772" cy="234188"/>
          </a:xfrm>
          <a:prstGeom prst="rect">
            <a:avLst/>
          </a:prstGeom>
          <a:solidFill>
            <a:srgbClr val="4D4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9650841" y="4479689"/>
            <a:ext cx="334772" cy="234188"/>
          </a:xfrm>
          <a:prstGeom prst="rect">
            <a:avLst/>
          </a:prstGeom>
          <a:solidFill>
            <a:srgbClr val="221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9998313" y="4479689"/>
            <a:ext cx="334772" cy="234188"/>
          </a:xfrm>
          <a:prstGeom prst="rect">
            <a:avLst/>
          </a:prstGeom>
          <a:solidFill>
            <a:srgbClr val="008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0345785" y="4479689"/>
            <a:ext cx="334772" cy="234188"/>
          </a:xfrm>
          <a:prstGeom prst="rect">
            <a:avLst/>
          </a:prstGeom>
          <a:solidFill>
            <a:srgbClr val="292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0693257" y="4479689"/>
            <a:ext cx="334772" cy="234188"/>
          </a:xfrm>
          <a:prstGeom prst="rect">
            <a:avLst/>
          </a:prstGeom>
          <a:solidFill>
            <a:srgbClr val="1D1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11040729" y="4479689"/>
            <a:ext cx="334772" cy="234188"/>
          </a:xfrm>
          <a:prstGeom prst="rect">
            <a:avLst/>
          </a:prstGeom>
          <a:solidFill>
            <a:srgbClr val="5D5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8293611" y="4269371"/>
            <a:ext cx="334772" cy="234188"/>
          </a:xfrm>
          <a:prstGeom prst="rect">
            <a:avLst/>
          </a:prstGeom>
          <a:solidFill>
            <a:srgbClr val="181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8641083" y="4269371"/>
            <a:ext cx="334772" cy="234188"/>
          </a:xfrm>
          <a:prstGeom prst="rect">
            <a:avLst/>
          </a:prstGeom>
          <a:solidFill>
            <a:srgbClr val="292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8988555" y="4269371"/>
            <a:ext cx="334772" cy="234188"/>
          </a:xfrm>
          <a:prstGeom prst="rect">
            <a:avLst/>
          </a:prstGeom>
          <a:solidFill>
            <a:srgbClr val="5A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9336027" y="4269371"/>
            <a:ext cx="334772" cy="234188"/>
          </a:xfrm>
          <a:prstGeom prst="rect">
            <a:avLst/>
          </a:prstGeom>
          <a:solidFill>
            <a:srgbClr val="373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9683499" y="4269371"/>
            <a:ext cx="334772" cy="234188"/>
          </a:xfrm>
          <a:prstGeom prst="rect">
            <a:avLst/>
          </a:prstGeom>
          <a:solidFill>
            <a:srgbClr val="463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10030971" y="4269371"/>
            <a:ext cx="334772" cy="234188"/>
          </a:xfrm>
          <a:prstGeom prst="rect">
            <a:avLst/>
          </a:prstGeom>
          <a:solidFill>
            <a:srgbClr val="564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10378443" y="4269371"/>
            <a:ext cx="334772" cy="234188"/>
          </a:xfrm>
          <a:prstGeom prst="rect">
            <a:avLst/>
          </a:prstGeom>
          <a:solidFill>
            <a:srgbClr val="574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10725915" y="4269371"/>
            <a:ext cx="334772" cy="234188"/>
          </a:xfrm>
          <a:prstGeom prst="rect">
            <a:avLst/>
          </a:prstGeom>
          <a:solidFill>
            <a:srgbClr val="463D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11073387" y="4269371"/>
            <a:ext cx="334772" cy="234188"/>
          </a:xfrm>
          <a:prstGeom prst="rect">
            <a:avLst/>
          </a:prstGeom>
          <a:solidFill>
            <a:srgbClr val="181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8293611" y="4516259"/>
            <a:ext cx="334772" cy="234188"/>
          </a:xfrm>
          <a:prstGeom prst="rect">
            <a:avLst/>
          </a:prstGeom>
          <a:solidFill>
            <a:srgbClr val="4F4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8641083" y="4516259"/>
            <a:ext cx="334772" cy="234188"/>
          </a:xfrm>
          <a:prstGeom prst="rect">
            <a:avLst/>
          </a:prstGeom>
          <a:solidFill>
            <a:srgbClr val="423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988555" y="4516259"/>
            <a:ext cx="334772" cy="234188"/>
          </a:xfrm>
          <a:prstGeom prst="rect">
            <a:avLst/>
          </a:prstGeom>
          <a:solidFill>
            <a:srgbClr val="241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9336027" y="4516259"/>
            <a:ext cx="334772" cy="234188"/>
          </a:xfrm>
          <a:prstGeom prst="rect">
            <a:avLst/>
          </a:prstGeom>
          <a:solidFill>
            <a:srgbClr val="3A3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9683499" y="4516259"/>
            <a:ext cx="334772" cy="234188"/>
          </a:xfrm>
          <a:prstGeom prst="rect">
            <a:avLst/>
          </a:prstGeom>
          <a:solidFill>
            <a:srgbClr val="594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10030971" y="4516259"/>
            <a:ext cx="334772" cy="234188"/>
          </a:xfrm>
          <a:prstGeom prst="rect">
            <a:avLst/>
          </a:prstGeom>
          <a:solidFill>
            <a:srgbClr val="4E4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10378443" y="4516259"/>
            <a:ext cx="334772" cy="234188"/>
          </a:xfrm>
          <a:prstGeom prst="rect">
            <a:avLst/>
          </a:prstGeom>
          <a:solidFill>
            <a:srgbClr val="4C4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10725915" y="4516259"/>
            <a:ext cx="334772" cy="234188"/>
          </a:xfrm>
          <a:prstGeom prst="rect">
            <a:avLst/>
          </a:prstGeom>
          <a:solidFill>
            <a:srgbClr val="262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11073387" y="4516259"/>
            <a:ext cx="334772" cy="234188"/>
          </a:xfrm>
          <a:prstGeom prst="rect">
            <a:avLst/>
          </a:prstGeom>
          <a:solidFill>
            <a:srgbClr val="362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8293611" y="4763147"/>
            <a:ext cx="334772" cy="234188"/>
          </a:xfrm>
          <a:prstGeom prst="rect">
            <a:avLst/>
          </a:prstGeom>
          <a:solidFill>
            <a:srgbClr val="373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8641083" y="4763147"/>
            <a:ext cx="334772" cy="234188"/>
          </a:xfrm>
          <a:prstGeom prst="rect">
            <a:avLst/>
          </a:prstGeom>
          <a:solidFill>
            <a:srgbClr val="554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8988555" y="4763147"/>
            <a:ext cx="334772" cy="234188"/>
          </a:xfrm>
          <a:prstGeom prst="rect">
            <a:avLst/>
          </a:prstGeom>
          <a:solidFill>
            <a:srgbClr val="252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9336027" y="4763147"/>
            <a:ext cx="334772" cy="234188"/>
          </a:xfrm>
          <a:prstGeom prst="rect">
            <a:avLst/>
          </a:prstGeom>
          <a:solidFill>
            <a:srgbClr val="1F1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9683499" y="4763147"/>
            <a:ext cx="334772" cy="234188"/>
          </a:xfrm>
          <a:prstGeom prst="rect">
            <a:avLst/>
          </a:prstGeom>
          <a:solidFill>
            <a:srgbClr val="3F3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10030971" y="4763147"/>
            <a:ext cx="334772" cy="234188"/>
          </a:xfrm>
          <a:prstGeom prst="rect">
            <a:avLst/>
          </a:prstGeom>
          <a:solidFill>
            <a:srgbClr val="534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10378443" y="4763147"/>
            <a:ext cx="334772" cy="234188"/>
          </a:xfrm>
          <a:prstGeom prst="rect">
            <a:avLst/>
          </a:prstGeom>
          <a:solidFill>
            <a:srgbClr val="221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10725915" y="4763147"/>
            <a:ext cx="334772" cy="234188"/>
          </a:xfrm>
          <a:prstGeom prst="rect">
            <a:avLst/>
          </a:prstGeom>
          <a:solidFill>
            <a:srgbClr val="4A40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11073387" y="4763147"/>
            <a:ext cx="334772" cy="234188"/>
          </a:xfrm>
          <a:prstGeom prst="rect">
            <a:avLst/>
          </a:prstGeom>
          <a:solidFill>
            <a:srgbClr val="322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8293611" y="5010035"/>
            <a:ext cx="334772" cy="234188"/>
          </a:xfrm>
          <a:prstGeom prst="rect">
            <a:avLst/>
          </a:prstGeom>
          <a:solidFill>
            <a:srgbClr val="181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8641083" y="5010035"/>
            <a:ext cx="334772" cy="234188"/>
          </a:xfrm>
          <a:prstGeom prst="rect">
            <a:avLst/>
          </a:prstGeom>
          <a:solidFill>
            <a:srgbClr val="594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8988555" y="5010035"/>
            <a:ext cx="334772" cy="234188"/>
          </a:xfrm>
          <a:prstGeom prst="rect">
            <a:avLst/>
          </a:prstGeom>
          <a:solidFill>
            <a:srgbClr val="463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9336027" y="5010035"/>
            <a:ext cx="334772" cy="234188"/>
          </a:xfrm>
          <a:prstGeom prst="rect">
            <a:avLst/>
          </a:prstGeom>
          <a:solidFill>
            <a:srgbClr val="554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9683499" y="5010035"/>
            <a:ext cx="334772" cy="234188"/>
          </a:xfrm>
          <a:prstGeom prst="rect">
            <a:avLst/>
          </a:prstGeom>
          <a:solidFill>
            <a:srgbClr val="5F5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10030971" y="5010035"/>
            <a:ext cx="334772" cy="234188"/>
          </a:xfrm>
          <a:prstGeom prst="rect">
            <a:avLst/>
          </a:prstGeom>
          <a:solidFill>
            <a:srgbClr val="181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10378443" y="5010035"/>
            <a:ext cx="334772" cy="234188"/>
          </a:xfrm>
          <a:prstGeom prst="rect">
            <a:avLst/>
          </a:prstGeom>
          <a:solidFill>
            <a:srgbClr val="403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10725915" y="5010035"/>
            <a:ext cx="334772" cy="234188"/>
          </a:xfrm>
          <a:prstGeom prst="rect">
            <a:avLst/>
          </a:prstGeom>
          <a:solidFill>
            <a:srgbClr val="302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11073387" y="5010035"/>
            <a:ext cx="334772" cy="234188"/>
          </a:xfrm>
          <a:prstGeom prst="rect">
            <a:avLst/>
          </a:prstGeom>
          <a:solidFill>
            <a:srgbClr val="393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8293611" y="5822980"/>
            <a:ext cx="334772" cy="234188"/>
          </a:xfrm>
          <a:prstGeom prst="rect">
            <a:avLst/>
          </a:prstGeom>
          <a:solidFill>
            <a:srgbClr val="141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8641083" y="5822980"/>
            <a:ext cx="334772" cy="234188"/>
          </a:xfrm>
          <a:prstGeom prst="rect">
            <a:avLst/>
          </a:prstGeom>
          <a:solidFill>
            <a:srgbClr val="2B2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8988555" y="5822980"/>
            <a:ext cx="334772" cy="234188"/>
          </a:xfrm>
          <a:prstGeom prst="rect">
            <a:avLst/>
          </a:prstGeom>
          <a:solidFill>
            <a:srgbClr val="483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9336027" y="5822980"/>
            <a:ext cx="334772" cy="234188"/>
          </a:xfrm>
          <a:prstGeom prst="rect">
            <a:avLst/>
          </a:prstGeom>
          <a:solidFill>
            <a:srgbClr val="100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9683499" y="5822980"/>
            <a:ext cx="334772" cy="234188"/>
          </a:xfrm>
          <a:prstGeom prst="rect">
            <a:avLst/>
          </a:prstGeom>
          <a:solidFill>
            <a:srgbClr val="3B3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10030971" y="5822980"/>
            <a:ext cx="334772" cy="234188"/>
          </a:xfrm>
          <a:prstGeom prst="rect">
            <a:avLst/>
          </a:prstGeom>
          <a:solidFill>
            <a:srgbClr val="242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10378443" y="5822980"/>
            <a:ext cx="334772" cy="234188"/>
          </a:xfrm>
          <a:prstGeom prst="rect">
            <a:avLst/>
          </a:prstGeom>
          <a:solidFill>
            <a:srgbClr val="342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10725915" y="5822980"/>
            <a:ext cx="334772" cy="234188"/>
          </a:xfrm>
          <a:prstGeom prst="rect">
            <a:avLst/>
          </a:prstGeom>
          <a:solidFill>
            <a:srgbClr val="463D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11073387" y="5822980"/>
            <a:ext cx="334772" cy="234188"/>
          </a:xfrm>
          <a:prstGeom prst="rect">
            <a:avLst/>
          </a:prstGeom>
          <a:solidFill>
            <a:srgbClr val="181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8293611" y="5253436"/>
            <a:ext cx="334772" cy="234188"/>
          </a:xfrm>
          <a:prstGeom prst="rect">
            <a:avLst/>
          </a:prstGeom>
          <a:solidFill>
            <a:srgbClr val="3F3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8641083" y="5253436"/>
            <a:ext cx="334772" cy="234188"/>
          </a:xfrm>
          <a:prstGeom prst="rect">
            <a:avLst/>
          </a:prstGeom>
          <a:solidFill>
            <a:srgbClr val="443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8988555" y="5253436"/>
            <a:ext cx="334772" cy="234188"/>
          </a:xfrm>
          <a:prstGeom prst="rect">
            <a:avLst/>
          </a:prstGeom>
          <a:solidFill>
            <a:srgbClr val="241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9336027" y="5253436"/>
            <a:ext cx="334772" cy="234188"/>
          </a:xfrm>
          <a:prstGeom prst="rect">
            <a:avLst/>
          </a:prstGeom>
          <a:solidFill>
            <a:srgbClr val="4E4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9683499" y="5253436"/>
            <a:ext cx="334772" cy="234188"/>
          </a:xfrm>
          <a:prstGeom prst="rect">
            <a:avLst/>
          </a:prstGeom>
          <a:solidFill>
            <a:srgbClr val="3F3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10030971" y="5253436"/>
            <a:ext cx="334772" cy="234188"/>
          </a:xfrm>
          <a:prstGeom prst="rect">
            <a:avLst/>
          </a:prstGeom>
          <a:solidFill>
            <a:srgbClr val="1512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10378443" y="5253436"/>
            <a:ext cx="334772" cy="234188"/>
          </a:xfrm>
          <a:prstGeom prst="rect">
            <a:avLst/>
          </a:prstGeom>
          <a:solidFill>
            <a:srgbClr val="342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10725915" y="5253436"/>
            <a:ext cx="334772" cy="234188"/>
          </a:xfrm>
          <a:prstGeom prst="rect">
            <a:avLst/>
          </a:prstGeom>
          <a:solidFill>
            <a:srgbClr val="1D19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11073387" y="5253436"/>
            <a:ext cx="334772" cy="234188"/>
          </a:xfrm>
          <a:prstGeom prst="rect">
            <a:avLst/>
          </a:prstGeom>
          <a:solidFill>
            <a:srgbClr val="262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8293611" y="5500324"/>
            <a:ext cx="334772" cy="234188"/>
          </a:xfrm>
          <a:prstGeom prst="rect">
            <a:avLst/>
          </a:prstGeom>
          <a:solidFill>
            <a:srgbClr val="594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8641083" y="5500324"/>
            <a:ext cx="334772" cy="234188"/>
          </a:xfrm>
          <a:prstGeom prst="rect">
            <a:avLst/>
          </a:prstGeom>
          <a:solidFill>
            <a:srgbClr val="201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8988555" y="5500324"/>
            <a:ext cx="334772" cy="234188"/>
          </a:xfrm>
          <a:prstGeom prst="rect">
            <a:avLst/>
          </a:prstGeom>
          <a:solidFill>
            <a:srgbClr val="5C5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9336027" y="5500324"/>
            <a:ext cx="334772" cy="234188"/>
          </a:xfrm>
          <a:prstGeom prst="rect">
            <a:avLst/>
          </a:prstGeom>
          <a:solidFill>
            <a:srgbClr val="3D35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9683499" y="5500324"/>
            <a:ext cx="334772" cy="234188"/>
          </a:xfrm>
          <a:prstGeom prst="rect">
            <a:avLst/>
          </a:prstGeom>
          <a:solidFill>
            <a:srgbClr val="4C4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10030971" y="5500324"/>
            <a:ext cx="334772" cy="234188"/>
          </a:xfrm>
          <a:prstGeom prst="rect">
            <a:avLst/>
          </a:prstGeom>
          <a:solidFill>
            <a:srgbClr val="221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10378443" y="5500324"/>
            <a:ext cx="334772" cy="234188"/>
          </a:xfrm>
          <a:prstGeom prst="rect">
            <a:avLst/>
          </a:prstGeom>
          <a:solidFill>
            <a:srgbClr val="433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10725915" y="5500324"/>
            <a:ext cx="334772" cy="234188"/>
          </a:xfrm>
          <a:prstGeom prst="rect">
            <a:avLst/>
          </a:prstGeom>
          <a:solidFill>
            <a:srgbClr val="534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11073387" y="5500324"/>
            <a:ext cx="334772" cy="234188"/>
          </a:xfrm>
          <a:prstGeom prst="rect">
            <a:avLst/>
          </a:prstGeom>
          <a:solidFill>
            <a:srgbClr val="221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8293611" y="5747212"/>
            <a:ext cx="334772" cy="234188"/>
          </a:xfrm>
          <a:prstGeom prst="rect">
            <a:avLst/>
          </a:prstGeom>
          <a:solidFill>
            <a:srgbClr val="131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8641083" y="5747212"/>
            <a:ext cx="334772" cy="234188"/>
          </a:xfrm>
          <a:prstGeom prst="rect">
            <a:avLst/>
          </a:prstGeom>
          <a:solidFill>
            <a:srgbClr val="1B17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8988555" y="5747212"/>
            <a:ext cx="334772" cy="234188"/>
          </a:xfrm>
          <a:prstGeom prst="rect">
            <a:avLst/>
          </a:prstGeom>
          <a:solidFill>
            <a:srgbClr val="120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9336027" y="5747212"/>
            <a:ext cx="334772" cy="234188"/>
          </a:xfrm>
          <a:prstGeom prst="rect">
            <a:avLst/>
          </a:prstGeom>
          <a:solidFill>
            <a:srgbClr val="211D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9683499" y="5747212"/>
            <a:ext cx="334772" cy="234188"/>
          </a:xfrm>
          <a:prstGeom prst="rect">
            <a:avLst/>
          </a:prstGeom>
          <a:solidFill>
            <a:srgbClr val="403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10030971" y="5747212"/>
            <a:ext cx="334772" cy="234188"/>
          </a:xfrm>
          <a:prstGeom prst="rect">
            <a:avLst/>
          </a:prstGeom>
          <a:solidFill>
            <a:srgbClr val="564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10378443" y="5747212"/>
            <a:ext cx="334772" cy="234188"/>
          </a:xfrm>
          <a:prstGeom prst="rect">
            <a:avLst/>
          </a:prstGeom>
          <a:solidFill>
            <a:srgbClr val="3A3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10725915" y="5747212"/>
            <a:ext cx="334772" cy="234188"/>
          </a:xfrm>
          <a:prstGeom prst="rect">
            <a:avLst/>
          </a:prstGeom>
          <a:solidFill>
            <a:srgbClr val="181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11073387" y="5747212"/>
            <a:ext cx="334772" cy="234188"/>
          </a:xfrm>
          <a:prstGeom prst="rect">
            <a:avLst/>
          </a:prstGeom>
          <a:solidFill>
            <a:srgbClr val="3B3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8304500" y="6004986"/>
            <a:ext cx="334772" cy="234188"/>
          </a:xfrm>
          <a:prstGeom prst="rect">
            <a:avLst/>
          </a:prstGeom>
          <a:solidFill>
            <a:srgbClr val="504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8651972" y="6004986"/>
            <a:ext cx="334772" cy="234188"/>
          </a:xfrm>
          <a:prstGeom prst="rect">
            <a:avLst/>
          </a:prstGeom>
          <a:solidFill>
            <a:srgbClr val="181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8999444" y="6004986"/>
            <a:ext cx="334772" cy="234188"/>
          </a:xfrm>
          <a:prstGeom prst="rect">
            <a:avLst/>
          </a:prstGeom>
          <a:solidFill>
            <a:srgbClr val="007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9346916" y="6004986"/>
            <a:ext cx="334772" cy="234188"/>
          </a:xfrm>
          <a:prstGeom prst="rect">
            <a:avLst/>
          </a:prstGeom>
          <a:solidFill>
            <a:srgbClr val="009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9694388" y="6004986"/>
            <a:ext cx="334772" cy="234188"/>
          </a:xfrm>
          <a:prstGeom prst="rect">
            <a:avLst/>
          </a:prstGeom>
          <a:solidFill>
            <a:srgbClr val="4F4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10041860" y="6004986"/>
            <a:ext cx="334772" cy="234188"/>
          </a:xfrm>
          <a:prstGeom prst="rect">
            <a:avLst/>
          </a:prstGeom>
          <a:solidFill>
            <a:srgbClr val="100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10389332" y="6004986"/>
            <a:ext cx="334772" cy="234188"/>
          </a:xfrm>
          <a:prstGeom prst="rect">
            <a:avLst/>
          </a:prstGeom>
          <a:solidFill>
            <a:srgbClr val="36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10736804" y="6004986"/>
            <a:ext cx="334772" cy="234188"/>
          </a:xfrm>
          <a:prstGeom prst="rect">
            <a:avLst/>
          </a:prstGeom>
          <a:solidFill>
            <a:srgbClr val="312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11084276" y="6004986"/>
            <a:ext cx="334772" cy="234188"/>
          </a:xfrm>
          <a:prstGeom prst="rect">
            <a:avLst/>
          </a:prstGeom>
          <a:solidFill>
            <a:srgbClr val="1D1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8293609" y="6251874"/>
            <a:ext cx="334772" cy="234188"/>
          </a:xfrm>
          <a:prstGeom prst="rect">
            <a:avLst/>
          </a:prstGeom>
          <a:solidFill>
            <a:srgbClr val="453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8641081" y="6251874"/>
            <a:ext cx="334772" cy="234188"/>
          </a:xfrm>
          <a:prstGeom prst="rect">
            <a:avLst/>
          </a:prstGeom>
          <a:solidFill>
            <a:srgbClr val="393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8988553" y="6251874"/>
            <a:ext cx="334772" cy="234188"/>
          </a:xfrm>
          <a:prstGeom prst="rect">
            <a:avLst/>
          </a:prstGeom>
          <a:solidFill>
            <a:srgbClr val="241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9336025" y="6251874"/>
            <a:ext cx="334772" cy="234188"/>
          </a:xfrm>
          <a:prstGeom prst="rect">
            <a:avLst/>
          </a:prstGeom>
          <a:solidFill>
            <a:srgbClr val="151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9683497" y="6251874"/>
            <a:ext cx="334772" cy="234188"/>
          </a:xfrm>
          <a:prstGeom prst="rect">
            <a:avLst/>
          </a:prstGeom>
          <a:solidFill>
            <a:srgbClr val="514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10030969" y="6251874"/>
            <a:ext cx="334772" cy="234188"/>
          </a:xfrm>
          <a:prstGeom prst="rect">
            <a:avLst/>
          </a:prstGeom>
          <a:solidFill>
            <a:srgbClr val="252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10378441" y="6251874"/>
            <a:ext cx="334772" cy="234188"/>
          </a:xfrm>
          <a:prstGeom prst="rect">
            <a:avLst/>
          </a:prstGeom>
          <a:solidFill>
            <a:srgbClr val="3D35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10725913" y="6251874"/>
            <a:ext cx="334772" cy="234188"/>
          </a:xfrm>
          <a:prstGeom prst="rect">
            <a:avLst/>
          </a:prstGeom>
          <a:solidFill>
            <a:srgbClr val="2A2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11073385" y="6251874"/>
            <a:ext cx="334772" cy="234188"/>
          </a:xfrm>
          <a:prstGeom prst="rect">
            <a:avLst/>
          </a:prstGeom>
          <a:solidFill>
            <a:srgbClr val="473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8293609" y="6498767"/>
            <a:ext cx="334772" cy="234188"/>
          </a:xfrm>
          <a:prstGeom prst="rect">
            <a:avLst/>
          </a:prstGeom>
          <a:solidFill>
            <a:srgbClr val="393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8641081" y="6498767"/>
            <a:ext cx="334772" cy="234188"/>
          </a:xfrm>
          <a:prstGeom prst="rect">
            <a:avLst/>
          </a:prstGeom>
          <a:solidFill>
            <a:srgbClr val="5E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8988553" y="6498767"/>
            <a:ext cx="334772" cy="234188"/>
          </a:xfrm>
          <a:prstGeom prst="rect">
            <a:avLst/>
          </a:prstGeom>
          <a:solidFill>
            <a:srgbClr val="1C1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9336025" y="6498767"/>
            <a:ext cx="334772" cy="234188"/>
          </a:xfrm>
          <a:prstGeom prst="rect">
            <a:avLst/>
          </a:prstGeom>
          <a:solidFill>
            <a:srgbClr val="342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9683497" y="6498767"/>
            <a:ext cx="334772" cy="234188"/>
          </a:xfrm>
          <a:prstGeom prst="rect">
            <a:avLst/>
          </a:prstGeom>
          <a:solidFill>
            <a:srgbClr val="564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10030969" y="6498767"/>
            <a:ext cx="334772" cy="234188"/>
          </a:xfrm>
          <a:prstGeom prst="rect">
            <a:avLst/>
          </a:prstGeom>
          <a:solidFill>
            <a:srgbClr val="403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10378441" y="6498767"/>
            <a:ext cx="334772" cy="234188"/>
          </a:xfrm>
          <a:prstGeom prst="rect">
            <a:avLst/>
          </a:prstGeom>
          <a:solidFill>
            <a:srgbClr val="151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10725913" y="6498767"/>
            <a:ext cx="334772" cy="234188"/>
          </a:xfrm>
          <a:prstGeom prst="rect">
            <a:avLst/>
          </a:prstGeom>
          <a:solidFill>
            <a:srgbClr val="1D19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11073385" y="6498767"/>
            <a:ext cx="334772" cy="234188"/>
          </a:xfrm>
          <a:prstGeom prst="rect">
            <a:avLst/>
          </a:prstGeom>
          <a:solidFill>
            <a:srgbClr val="5B5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AA"/>
                </a:solidFill>
              </a:rPr>
              <a:t>SLIDE 9  · 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Experimental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64008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274320"/>
          </a:xfrm>
          <a:prstGeom prst="rect">
            <a:avLst/>
          </a:prstGeom>
          <a:solidFill>
            <a:srgbClr val="13182A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6B6B"/>
                </a:solidFill>
              </a:rPr>
              <a:t>ALL MODELS — TEST SET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27632"/>
          <a:ext cx="11338560" cy="24035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Macro F1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Params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Plain CNN  (Best Baseline)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0.9508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0.9315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0.9416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0.9365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0.9482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0.9931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489K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CNN+CBAM  (Task 2)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0.9492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0.8906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0.9896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0.9375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0.9473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0.9954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492K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Task 3 Final  (CBAM no dropout) ★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0.9587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0.9558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0.9938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492K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ResNet50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0.9247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0.8544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0.9698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0.9084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0.9223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0.9875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24.1M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VGG16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0.9009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0.7973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0.9960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0.8856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0.8991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0.9950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14.8M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EfficientNetB0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0.8492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0.9773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0.6228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0.7608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0.8253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0.9670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4.05M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114800"/>
            <a:ext cx="3840480" cy="2194560"/>
          </a:xfrm>
          <a:prstGeom prst="rect">
            <a:avLst/>
          </a:prstGeom>
          <a:solidFill>
            <a:srgbClr val="13182A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423367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C63FF"/>
                </a:solidFill>
              </a:rPr>
              <a:t>CONFUSION MATRIX — CNN+CBAM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4553712"/>
          <a:ext cx="38404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Pred Benign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Pred Malware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Actual Benign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8892B0"/>
                          </a:solidFill>
                        </a:rPr>
                        <a:t>TN = 4,391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8892B0"/>
                          </a:solidFill>
                        </a:rPr>
                        <a:t>FP = 362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Actual Malware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8892B0"/>
                          </a:solidFill>
                        </a:rPr>
                        <a:t>FN = 31  ⚠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8892B0"/>
                          </a:solidFill>
                        </a:rPr>
                        <a:t>TP = 2,946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" y="60807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AA"/>
                </a:solidFill>
              </a:rPr>
              <a:t>Only 31 malware missed  →  Recall = 98.96%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4114800"/>
            <a:ext cx="3657600" cy="2194560"/>
          </a:xfrm>
          <a:prstGeom prst="rect">
            <a:avLst/>
          </a:prstGeom>
          <a:solidFill>
            <a:srgbClr val="13182A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423367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C63FF"/>
                </a:solidFill>
              </a:rPr>
              <a:t>5-FOLD CV + SIGNIFICANCE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480560" y="4553712"/>
          <a:ext cx="3657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Macro F1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Final Attention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0.9809 ± 0.0042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Plain CNN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0.9823 ± 0.0040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480560" y="5532120"/>
          <a:ext cx="3657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Test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p-value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Verdict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McNemar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1.11×10⁻¹⁴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Sig. different errors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Wilcoxon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0.4375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No F1 gain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8321040" y="4114800"/>
            <a:ext cx="3474720" cy="2194560"/>
          </a:xfrm>
          <a:prstGeom prst="rect">
            <a:avLst/>
          </a:prstGeom>
          <a:solidFill>
            <a:srgbClr val="13182A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0" y="4233672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D4AA"/>
                </a:solidFill>
              </a:rPr>
              <a:t>TOP LIME FEATURES (XAI)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8321040" y="4553712"/>
          <a:ext cx="3474720" cy="1627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LIME Weight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Maxpar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0.2083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majlv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0.1732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sig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0.1314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char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0.0990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Data_char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0.0616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AA"/>
                </a:solidFill>
              </a:rPr>
              <a:t>SLIDE 10  · 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Summary &amp;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64008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5943600" cy="3474720"/>
          </a:xfrm>
          <a:prstGeom prst="rect">
            <a:avLst/>
          </a:prstGeom>
          <a:solidFill>
            <a:srgbClr val="13182A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C63FF"/>
                </a:solidFill>
              </a:rPr>
              <a:t>WHAT WE ACCOMPLISHED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91640"/>
          <a:ext cx="5943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Key Result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Best Baseline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Plain CNN  ·  Macro-F1=0.9482  ·  5.7 MB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CNN+CBAM (Task 2)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ROC-AUC=0.9954  ·  Recall=98.96%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Task 3 Final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Macro-F1=0.9558  ·  Accuracy=0.9587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McNemar Test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p=1.11×10⁻¹⁴  →  Significantly different errors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Wilcoxon 5-fold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p=0.44  →  No consistent F1 gain</a:t>
                      </a:r>
                    </a:p>
                  </a:txBody>
                  <a:tcPr>
                    <a:solidFill>
                      <a:srgbClr val="1015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</a:rPr>
                        <a:t>Top LIME Feature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8892B0"/>
                          </a:solidFill>
                        </a:rPr>
                        <a:t>Maxpar  (max paragraph headers, weight=0.208)</a:t>
                      </a:r>
                    </a:p>
                  </a:txBody>
                  <a:tcPr>
                    <a:solidFill>
                      <a:srgbClr val="13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583680" y="1298448"/>
            <a:ext cx="5303520" cy="4206240"/>
          </a:xfrm>
          <a:prstGeom prst="rect">
            <a:avLst/>
          </a:prstGeom>
          <a:solidFill>
            <a:srgbClr val="13182A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6560" y="141732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D4AA"/>
                </a:solidFill>
              </a:rPr>
              <a:t>6 KEY TAKEAWAYS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1783080"/>
            <a:ext cx="274320" cy="2743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819656"/>
            <a:ext cx="274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9168" y="180136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B0"/>
                </a:solidFill>
              </a:rPr>
              <a:t>Leakage-aware split essential — 74.83% benign duplication inflates metrics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2313432"/>
            <a:ext cx="274320" cy="2743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0" y="2350008"/>
            <a:ext cx="274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233172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B0"/>
                </a:solidFill>
              </a:rPr>
              <a:t>Lightweight custom CNN beats pretrained models on synthetic feature images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2843784"/>
            <a:ext cx="274320" cy="2743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2880360"/>
            <a:ext cx="274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286207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B0"/>
                </a:solidFill>
              </a:rPr>
              <a:t>CBAM reshapes errors (McNemar: significant) but no consistent F1 gain (Wilcoxon)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3374136"/>
            <a:ext cx="274320" cy="2743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3410712"/>
            <a:ext cx="274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339242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B0"/>
                </a:solidFill>
              </a:rPr>
              <a:t>Precision–Recall trade-off is critical in security settings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3904488"/>
            <a:ext cx="274320" cy="2743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0" y="3941064"/>
            <a:ext cx="274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392277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B0"/>
                </a:solidFill>
              </a:rPr>
              <a:t>Explainability is meaningful — Maxpar, majlv, sig identified per-prediction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4434840"/>
            <a:ext cx="274320" cy="2743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0" y="4471416"/>
            <a:ext cx="274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45312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B0"/>
                </a:solidFill>
              </a:rPr>
              <a:t>Research Gaps 1 &amp; 3 filled — first attention + attribution on SOMLAP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937760"/>
            <a:ext cx="11338560" cy="731520"/>
          </a:xfrm>
          <a:prstGeom prst="rect">
            <a:avLst/>
          </a:prstGeom>
          <a:solidFill>
            <a:srgbClr val="0E1A30"/>
          </a:solidFill>
          <a:ln w="9525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" y="5074920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</a:rPr>
              <a:t>CBAM is a promising component for PE-header malware classification. It changes WHERE the model is right/wrong (significantly, McNemar), but does not consistently improve HOW OFTEN it is right (Wilcoxon p=0.44). Precision–recall trade-off is critical and must be reported alongside accuracy.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AA"/>
                </a:solidFill>
              </a:rPr>
              <a:t>SLIDE 11  ·  Q&amp;A  ·  MODEL EXPLANATION &amp; DESIGN RATIONALE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Model Explanation &amp; Rationale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64008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170432"/>
          </a:xfrm>
          <a:prstGeom prst="rect">
            <a:avLst/>
          </a:prstGeom>
          <a:solidFill>
            <a:srgbClr val="13182A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37160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C63FF"/>
                </a:solidFill>
              </a:rPr>
              <a:t>Q1. How does the model work?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627632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B0"/>
                </a:solidFill>
              </a:rPr>
              <a:t>108 PE features → 12×9 grid → 96×96 RGB → 4 Conv blocks (CBAM after blocks 1–3) → Global Avg Pool → Dense → Sigmoid. Batch Norm + Dropout for regularization.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96896"/>
            <a:ext cx="11338560" cy="1170432"/>
          </a:xfrm>
          <a:prstGeom prst="rect">
            <a:avLst/>
          </a:prstGeom>
          <a:solidFill>
            <a:srgbClr val="13182A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26700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C63FF"/>
                </a:solidFill>
              </a:rPr>
              <a:t>Q2. Why these design choices?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92608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B0"/>
                </a:solidFill>
              </a:rPr>
              <a:t>12×9 = 108 exact fit.  CNN: hierarchical learning.  CBAM: not all feature maps equally useful.  Identical baseline backbone for fair comparison.  Gaussian noise only — flips corrupt positions.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95344"/>
            <a:ext cx="11338560" cy="1170432"/>
          </a:xfrm>
          <a:prstGeom prst="rect">
            <a:avLst/>
          </a:prstGeom>
          <a:solidFill>
            <a:srgbClr val="13182A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396849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C63FF"/>
                </a:solidFill>
              </a:rPr>
              <a:t>Q3. Why may it outperform baselines?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224528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B0"/>
                </a:solidFill>
              </a:rPr>
              <a:t>CBAM selectively prioritizes useful feature maps.  Lightweight 492K-param design aligns better with synthetic PE-feature images than large ImageNet-pretrained models.  All models under identical leakage-safe framework.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193792"/>
            <a:ext cx="11338560" cy="1170432"/>
          </a:xfrm>
          <a:prstGeom prst="rect">
            <a:avLst/>
          </a:prstGeom>
          <a:solidFill>
            <a:srgbClr val="13182A"/>
          </a:solidFill>
          <a:ln w="9525">
            <a:solidFill>
              <a:srgbClr val="25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526694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C63FF"/>
                </a:solidFill>
              </a:rPr>
              <a:t>Q4. Honest interpretation?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522976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B0"/>
                </a:solidFill>
              </a:rPr>
              <a:t>+1.08 pp Macro-F1 in initial matched comparison. BUT malware recall decreased (0.9416 → 0.9241). CBAM is promising, but effectiveness depends on metric, setting, and practical security priorities. We test via controlled ablations and report improvements AND limitations transparently.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1978</Words>
  <Application>Microsoft Office PowerPoint</Application>
  <PresentationFormat>Custom</PresentationFormat>
  <Paragraphs>442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Reasad Mahmood</cp:lastModifiedBy>
  <cp:revision>3</cp:revision>
  <dcterms:created xsi:type="dcterms:W3CDTF">2013-01-27T09:14:16Z</dcterms:created>
  <dcterms:modified xsi:type="dcterms:W3CDTF">2026-08-30T14:30:53Z</dcterms:modified>
  <cp:category/>
</cp:coreProperties>
</file>